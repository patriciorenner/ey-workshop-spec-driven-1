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medium.com/ai-in-plain-english/understanding-how-models-operate-is-key-to-implementing-spec-driven-development-643a9b03e07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vercel.com/blog/agents-md-outperforms-skills-in-our-agent-eval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30296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350" spc="243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</a:t>
            </a:r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1 DE 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642282" y="952500"/>
            <a:ext cx="165511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· 04 ·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6800" y="2773412"/>
            <a:ext cx="14716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63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DE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66800" y="3468737"/>
            <a:ext cx="14716125" cy="274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100" b="1" spc="-388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</a:t>
            </a:r>
            <a:pPr algn="l" indent="0" marL="0">
              <a:lnSpc>
                <a:spcPct val="96000"/>
              </a:lnSpc>
              <a:buNone/>
            </a:pPr>
            <a:r>
              <a:rPr lang="en-US" sz="11100" b="1" spc="-388" kern="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11100" dirty="0"/>
          </a:p>
        </p:txBody>
      </p:sp>
      <p:sp>
        <p:nvSpPr>
          <p:cNvPr id="7" name="Text 5"/>
          <p:cNvSpPr/>
          <p:nvPr/>
        </p:nvSpPr>
        <p:spPr>
          <a:xfrm>
            <a:off x="1066800" y="6556325"/>
            <a:ext cx="14716125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spc="-31" kern="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GitHub Copilot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066800" y="8629650"/>
            <a:ext cx="19621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FACILITADOR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66800" y="8882063"/>
            <a:ext cx="1962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Patricio Renner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264830" y="8843963"/>
            <a:ext cx="95637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SESIÓN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264830" y="9096375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02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66800" y="762000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6800" y="9553575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4716125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y especificaciones como base de entregables profesionales.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3325267"/>
            <a:ext cx="3429000" cy="342900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6325" y="3334792"/>
            <a:ext cx="3409950" cy="3409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0625" y="6482804"/>
            <a:ext cx="1175817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FACILITADOR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66800" y="6982867"/>
            <a:ext cx="353187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Patricio Renner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66800" y="7344817"/>
            <a:ext cx="353187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 Consultant · Transformación Digital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257800" y="3325267"/>
            <a:ext cx="9222105" cy="13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Ingeniero civil industrial. Más de 25 años de experiencia en consultoría de negocios, SAP, arquitectura cloud y plataformas de datos. En los últimos años ha centrado su práctica en el desarrollo de metodologías para el uso de GenAI orientado a la producción de software robusto, seguro y con calidad de producción.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257800" y="5085308"/>
            <a:ext cx="11963400" cy="2317254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10225" y="5399633"/>
            <a:ext cx="11596307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PREMISA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10225" y="5747296"/>
            <a:ext cx="11596307" cy="1379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uso predominante de la GenAI se limita al modo conversacional: consultas puntuales y fragmentos de código aislados. Esta práctica aprovecha una fracción menor del potencial real de la tecnología. La combinación de </a:t>
            </a:r>
            <a:pPr algn="l" indent="0" marL="0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un enfoque </a:t>
            </a:r>
            <a:pPr algn="l" indent="0" marL="0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basado en especificaciones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producir entregables profesionales —software, planes, análisis, entrevistas estructuradas— sobre una base reproducible.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de la sesión.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2691333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67558"/>
            <a:ext cx="12192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2590800" y="2967558"/>
            <a:ext cx="150693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Comprender el enfoque Spec-Driven Development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90800" y="3443808"/>
            <a:ext cx="150693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 conceptuales y motivación para su aplicación con agentes.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6800" y="4259089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4535314"/>
            <a:ext cx="12192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2590800" y="4535314"/>
            <a:ext cx="150693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Conocer las herramientas clave de GitHub Copilot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90800" y="5011564"/>
            <a:ext cx="150693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instructions, prompt files, custom agents, agent skills y MCP.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6800" y="5826844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6103069"/>
            <a:ext cx="12192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2590800" y="6103069"/>
            <a:ext cx="1506931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Adquirir una base operativa para continuar de forma autónoma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90800" y="6579319"/>
            <a:ext cx="150693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 Git de referencia y lineamientos para la exploración posterior.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8385200"/>
            <a:ext cx="1615440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" y="7394600"/>
            <a:ext cx="16154400" cy="9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7766075"/>
            <a:ext cx="12192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FUERA DE ALCANCE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90800" y="7670825"/>
            <a:ext cx="1506931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construcción de un flujo SDD completo y robusto, que corresponde al Workshop 2.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ALCANCE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Workshop 1 introduce los componentes; el Workshop 2 los integra en un flujo.</a:t>
            </a:r>
            <a:endParaRPr lang="en-US" sz="4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3624783"/>
            <a:ext cx="16154400" cy="5143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CRONOGRAMA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de la sesión.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2424633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643708"/>
            <a:ext cx="313944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9:00 – 9:20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2953271"/>
            <a:ext cx="31394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MIN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95800" y="2758008"/>
            <a:ext cx="8656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INICIO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37659" y="2643708"/>
            <a:ext cx="121934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Apertura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95800" y="3120851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9522" y="3058939"/>
            <a:ext cx="10253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88223" y="3120851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21946" y="3058939"/>
            <a:ext cx="20934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Bienvenida y objetivos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66800" y="3544714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3763789"/>
            <a:ext cx="313944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9:20 – 10:15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66800" y="4073351"/>
            <a:ext cx="31394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 MIN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95800" y="3878089"/>
            <a:ext cx="101240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BLOQUE 01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84403" y="3763789"/>
            <a:ext cx="183170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495800" y="4240932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9522" y="4179019"/>
            <a:ext cx="4215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SDD, modelos y rol del humano en el proceso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6800" y="4798144"/>
            <a:ext cx="31394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10:15 – 10:30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95800" y="4798144"/>
            <a:ext cx="165511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PAUSA · 15 MIN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46168" y="4881488"/>
            <a:ext cx="1097503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6800" y="5107707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5326782"/>
            <a:ext cx="313944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10:30 – 11:55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66800" y="5636344"/>
            <a:ext cx="31394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85 MIN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5800" y="5441082"/>
            <a:ext cx="101240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BLOQUE 02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84403" y="5326782"/>
            <a:ext cx="334056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 principales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495800" y="5803925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29522" y="5742012"/>
            <a:ext cx="18853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contexto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48227" y="5803925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81949" y="5742012"/>
            <a:ext cx="18742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instructions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89566" y="5803925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923288" y="5742012"/>
            <a:ext cx="11544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211098" y="5803925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344820" y="5742012"/>
            <a:ext cx="14321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agents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66800" y="6361137"/>
            <a:ext cx="31394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11:55 – 12:10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495800" y="6361137"/>
            <a:ext cx="165511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PAUSA · 15 MIN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46168" y="6444481"/>
            <a:ext cx="10975032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66800" y="6670700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66800" y="6889775"/>
            <a:ext cx="313944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12:10 – 12:45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66800" y="7199337"/>
            <a:ext cx="31394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MIN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95800" y="7004075"/>
            <a:ext cx="101240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BLOQUE 03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584403" y="6889775"/>
            <a:ext cx="341805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y extensiones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4495800" y="7366918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629522" y="7305005"/>
            <a:ext cx="3660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Integración: prompt file + custom agent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392864" y="7366918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26587" y="7305005"/>
            <a:ext cx="11081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skills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768036" y="7366918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901758" y="7305005"/>
            <a:ext cx="1235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066800" y="8910861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66800" y="7790780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66800" y="8009855"/>
            <a:ext cx="313944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30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12:45 – 13:00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66800" y="8319418"/>
            <a:ext cx="313944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MIN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495800" y="8124155"/>
            <a:ext cx="8656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CIERRE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437659" y="8009855"/>
            <a:ext cx="86655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4495800" y="8486998"/>
            <a:ext cx="11467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629522" y="8425086"/>
            <a:ext cx="372026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Recapitulación, Q&amp;A y retroalimentación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FORMATO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Dinámica de la sesión.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2691333"/>
            <a:ext cx="16154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48508"/>
            <a:ext cx="274701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modalidad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114800" y="2948508"/>
            <a:ext cx="1349959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híbrida. Participación presencial y remota por Teams, con igual nivel de interacción en ambos canales.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66800" y="3555206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812381"/>
            <a:ext cx="274701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demo-along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14800" y="3812381"/>
            <a:ext cx="1349959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facilitador ejecuta cada demostración; los participantes replican en paralelo en su propio entorno.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66800" y="4419079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676254"/>
            <a:ext cx="274701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114800" y="4676254"/>
            <a:ext cx="1349959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Ejercicios prácticos individuales o en parejas, según preferencia.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66800" y="5282952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5540127"/>
            <a:ext cx="274701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teoría breve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114800" y="5540127"/>
            <a:ext cx="1349959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Segmentos conceptuales cortos intercalados con los ejercicios.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66800" y="7010698"/>
            <a:ext cx="16154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" y="6146825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6404000"/>
            <a:ext cx="274701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pausas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114800" y="6404000"/>
            <a:ext cx="13499592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pausas de 15 minutos: 10:15 y 11:55.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REQUISITOS Y ALCANCE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Requisitos, participación y entregables.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577033"/>
            <a:ext cx="80448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REQUISITOS TÉCNICOS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972321"/>
            <a:ext cx="80448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Studio Code · Git · Licencia activa de GitHub Copilot.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3848621"/>
            <a:ext cx="80448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PARTICIPACIÓN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4243908"/>
            <a:ext cx="80448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consultas pueden formularse en sala o a través del chat de Teams para los asistentes remotos.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5463108"/>
            <a:ext cx="80448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ENFOQUE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5858396"/>
            <a:ext cx="80448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promueve la experimentación durante la sesión. El objetivo es explorar y comprender, no producir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definitivo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10700" y="2577033"/>
            <a:ext cx="7810500" cy="3967163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7425" y="3043758"/>
            <a:ext cx="708336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ENTREGABLES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7425" y="3562871"/>
            <a:ext cx="342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334625" y="3515246"/>
            <a:ext cx="409062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 Git de referencia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34625" y="3834333"/>
            <a:ext cx="40906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configuraciones de ejemplo operativas.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77425" y="4367733"/>
            <a:ext cx="342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334625" y="4320108"/>
            <a:ext cx="395357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de la sesión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334625" y="4639196"/>
            <a:ext cx="39535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el material y las referencias utilizadas.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7425" y="5172596"/>
            <a:ext cx="3429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334625" y="5124971"/>
            <a:ext cx="518053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propuesto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34625" y="5444058"/>
            <a:ext cx="518053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trabajar de forma autónoma antes del Workshop 2.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INTRODUCCIÓN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1 · BLOQUE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800" y="3515171"/>
            <a:ext cx="4532567" cy="3318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1500" b="1" spc="-1575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6381750" y="3749129"/>
            <a:ext cx="11164634" cy="1048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800" b="1" spc="-234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Fundamentos.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6381750" y="5302448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72300" y="5254823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Spec-driven development y el rol del humano.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381750" y="5782494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72300" y="5734869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Naturaleza del modelo: amnesia, inferencia, estocasticidad.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81750" y="6262539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72300" y="6214914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introducir puntos de control sobre el resultado.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66800" y="8963025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9182100"/>
            <a:ext cx="25669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5130463" y="9182100"/>
            <a:ext cx="216693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9:20 – 10:15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55 MIN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· VIBE CODING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plataformas prometen aplicaciones con un prompt.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realidad es más matizada.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3325267"/>
            <a:ext cx="80448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REALIDAD OBSERVADA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66800" y="3820567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38300" y="3730079"/>
            <a:ext cx="745617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aplicaciones se construyen con rapidez...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38300" y="4279627"/>
            <a:ext cx="745617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...pero no siempre cumplen las expectativas.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66800" y="4919663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38300" y="4829175"/>
            <a:ext cx="745617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stack tecnológico queda definido por defecto, con una plataforma adecuada para un prototipo.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66800" y="5828258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38300" y="5737771"/>
            <a:ext cx="745617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calidad se degrada con cada iteración.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800" y="6377806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38300" y="6287319"/>
            <a:ext cx="7456170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controles de calidad y seguridad resultan insuficientes.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10700" y="3609082"/>
            <a:ext cx="7810500" cy="2753469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1225" y="3999607"/>
            <a:ext cx="724033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DIAGNÓSTICO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01225" y="4347270"/>
            <a:ext cx="7240334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 bien para un prototipo; pero no alcanza estándares de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calidad de producción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801225" y="5322540"/>
            <a:ext cx="7240334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requiere una capa de ingeniería que explicite las decisiones que, de otro modo, el modelo resolvería según sus propios criterios.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MODO CONVERSACIONAL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limitaciones estructurales del chat.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2691333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3015183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820" y="2948508"/>
            <a:ext cx="26653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 ambiguos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66850" y="3439046"/>
            <a:ext cx="760552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modelo completa la información faltante por inferencia; el control del resultado se diluye.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448800" y="2691333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448800" y="3015183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890820" y="2948508"/>
            <a:ext cx="52419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Ausencia de memoria entre sesiones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848850" y="3439046"/>
            <a:ext cx="7605522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sesión se inicia sin contexto previo del proyecto ni de las decisiones tomadas.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66800" y="4372496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696346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08820" y="4629671"/>
            <a:ext cx="229091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Variabilidad alta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66850" y="5120208"/>
            <a:ext cx="76055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misma entrada produce respuestas distintas entre ejecuciones.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448800" y="4372496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48800" y="4696346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890820" y="4629671"/>
            <a:ext cx="475476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Criterios de aceptación implícitos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848850" y="5120208"/>
            <a:ext cx="76055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existe una definición medible y explícita del resultado esperado.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DEFINICIÓN · SPEC-DRIVEN DEVELOPMENT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Especificación previa al código.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3995589"/>
            <a:ext cx="9575292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establecen de forma previa los casos de uso con sus criterios de aceptación, las guías de arquitectura, los estándares de código, las pruebas y los requisitos de seguridad. Todos estos elementos se explicitan antes de escribir código.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5835700"/>
            <a:ext cx="9575292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especificación sustituye la ambigüedad por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decisiones explícitas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orientan el trabajo del agente.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66800" y="6908155"/>
            <a:ext cx="9296400" cy="1007715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7906345"/>
            <a:ext cx="9296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6908155"/>
            <a:ext cx="9296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6800" y="6908155"/>
            <a:ext cx="28575" cy="100771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" name="Shape 9"/>
          <p:cNvSpPr/>
          <p:nvPr/>
        </p:nvSpPr>
        <p:spPr>
          <a:xfrm>
            <a:off x="10353675" y="6908155"/>
            <a:ext cx="9525" cy="100771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23975" y="7108180"/>
            <a:ext cx="9079992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enfoque es aplicable también a entregables de consultoría: informes, planes, entrevistas estructuradas y análisis de datos.</a:t>
            </a:r>
            <a:endParaRPr lang="en-US" sz="16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200" y="3479229"/>
            <a:ext cx="6096000" cy="4953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Preparación del entorno de trabajo.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2779514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127177"/>
            <a:ext cx="4316730" cy="1474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Disponer del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repositorio Git de referencia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contiene los materiales y ejemplos utilizados durante la sesión.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943600" y="2779514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320337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8450" y="3184327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clone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repositorio Git indicado.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43600" y="3640559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3621509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la carpeta resultante en Visual Studio Code.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4077742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4058692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el contenido de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donde residen los textos y ejemplos de referencia.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451492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4495874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Mantener el repositorio Git abierto durante la totalidad de la sesión.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066800" y="5180707"/>
            <a:ext cx="16154400" cy="1450479"/>
          </a:xfrm>
          <a:prstGeom prst="roundRect">
            <a:avLst>
              <a:gd name="adj" fmla="val 5253"/>
            </a:avLst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1125" y="5418832"/>
            <a:ext cx="155990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 clone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https://github.com/patriciorenner/ey-workshop-spec-driven-1.git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81125" y="5743575"/>
            <a:ext cx="155990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cd ey-workshop-spec-driven-1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381125" y="6068318"/>
            <a:ext cx="155990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code 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6764000" y="5295007"/>
            <a:ext cx="342900" cy="342900"/>
          </a:xfrm>
          <a:prstGeom prst="roundRect">
            <a:avLst>
              <a:gd name="adj" fmla="val 11111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0" y="5390257"/>
            <a:ext cx="152400" cy="1524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COPILOT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Superficies y modos de operación.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538933"/>
            <a:ext cx="800557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SUPERFICIES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66800" y="3606626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905646"/>
            <a:ext cx="7388644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completions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3224733"/>
            <a:ext cx="7388644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Sugerencias en el editor durante la escritura de código.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392641" y="2953271"/>
            <a:ext cx="446559" cy="252413"/>
          </a:xfrm>
          <a:prstGeom prst="roundRect">
            <a:avLst>
              <a:gd name="adj" fmla="val 15094"/>
            </a:avLst>
          </a:prstGeom>
          <a:solidFill>
            <a:srgbClr val="FFB020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487891" y="2991371"/>
            <a:ext cx="3322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66800" y="4488582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3787601"/>
            <a:ext cx="668510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Inline chat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6800" y="4106689"/>
            <a:ext cx="6685106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acotado a la selección, dentro del editor.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09595" y="3835226"/>
            <a:ext cx="1129605" cy="252413"/>
          </a:xfrm>
          <a:prstGeom prst="roundRect">
            <a:avLst>
              <a:gd name="adj" fmla="val 15094"/>
            </a:avLst>
          </a:prstGeom>
          <a:solidFill>
            <a:srgbClr val="FFB020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04845" y="3873326"/>
            <a:ext cx="101530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⌘I / Ctrl+I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66800" y="5370537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4669557"/>
            <a:ext cx="729988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chat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6800" y="4988644"/>
            <a:ext cx="7299888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flotante para consultas puntuales.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06470" y="4717182"/>
            <a:ext cx="532730" cy="252413"/>
          </a:xfrm>
          <a:prstGeom prst="roundRect">
            <a:avLst>
              <a:gd name="adj" fmla="val 15094"/>
            </a:avLst>
          </a:prstGeom>
          <a:solidFill>
            <a:srgbClr val="FFB02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401720" y="4755282"/>
            <a:ext cx="4184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⌘⇧⌥L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66800" y="6252493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5551512"/>
            <a:ext cx="624530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view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6800" y="5870600"/>
            <a:ext cx="6245309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lateral multi-turno con contexto persistente.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282607" y="5599137"/>
            <a:ext cx="1556593" cy="252413"/>
          </a:xfrm>
          <a:prstGeom prst="roundRect">
            <a:avLst>
              <a:gd name="adj" fmla="val 15094"/>
            </a:avLst>
          </a:prstGeom>
          <a:solidFill>
            <a:srgbClr val="FFB020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77857" y="5637237"/>
            <a:ext cx="144229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⌃⌘I / Ctrl+Alt+I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48800" y="2538933"/>
            <a:ext cx="800557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MODOS DEL PANEL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48800" y="2905646"/>
            <a:ext cx="7772400" cy="60007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8825" y="3067571"/>
            <a:ext cx="1409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ask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134725" y="3085654"/>
            <a:ext cx="453256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Emite únicamente respuestas.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5611475" y="3122340"/>
            <a:ext cx="14097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MODIFICA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9448800" y="3639071"/>
            <a:ext cx="7772400" cy="60007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8825" y="3800996"/>
            <a:ext cx="1409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edit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134725" y="3819079"/>
            <a:ext cx="453256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ediciones multi-archivo dirigidas.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5611475" y="3855765"/>
            <a:ext cx="14097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MODIFICA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9448800" y="4372496"/>
            <a:ext cx="7772400" cy="60007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48825" y="4534421"/>
            <a:ext cx="1409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agent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134725" y="4552504"/>
            <a:ext cx="453256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Planifica, edita, ejecuta y corrige de forma iterativa.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5611475" y="4589190"/>
            <a:ext cx="14097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MODIFICA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9448800" y="5105921"/>
            <a:ext cx="7772400" cy="60007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48825" y="5267846"/>
            <a:ext cx="1409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plan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1134725" y="5285929"/>
            <a:ext cx="4532567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 un plan detallado antes de ejecutar.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5611475" y="5322615"/>
            <a:ext cx="14097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MODIFICA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9448800" y="5896496"/>
            <a:ext cx="80055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sesión trabaja principalmente con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 uso puntual de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NATURALEZA DEL MODELO · 1/3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generación token a token incorpora un componente estocástico.</a:t>
            </a:r>
            <a:endParaRPr lang="en-US" sz="4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4004890"/>
            <a:ext cx="1615440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7814890"/>
            <a:ext cx="792708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efecto de cada paso se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 largo de una cadena de ejecución.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525000" y="7814890"/>
            <a:ext cx="792708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proceso debe diseñarse asumiendo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no-idempotencia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Spec-Driven Development responde parcialmente a esta condición.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 repetida de un mismo prompt.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2779514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127177"/>
            <a:ext cx="4316730" cy="1474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el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comportamiento probabilístico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modelo: una misma entrada produce salidas distintas.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800" y="5020568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DISCUSIÓN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66800" y="5368230"/>
            <a:ext cx="4316730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diferencias se observan entre las tres ejecuciones? ¿Qué implicaciones tiene esto para el flujo de trabajo habitual?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943600" y="2779514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320337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3184327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Copilot Chat e iniciar una sesión nueva.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3640559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3621509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 el siguiente prompt: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"Escribe una función Python para validar un email."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4077742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4058692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Repetir el ejercicio en dos sesiones nuevas adicionales, con el mismo prompt.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0" y="451492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8450" y="4495874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las tres respuestas: estructura, imports, estilo y tratamiento de casos límite.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943600" y="5104507"/>
            <a:ext cx="11277600" cy="88106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5976045"/>
            <a:ext cx="11277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5104507"/>
            <a:ext cx="11277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5104507"/>
            <a:ext cx="28575" cy="88106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8" name="Shape 26"/>
          <p:cNvSpPr/>
          <p:nvPr/>
        </p:nvSpPr>
        <p:spPr>
          <a:xfrm>
            <a:off x="17211675" y="5104507"/>
            <a:ext cx="9525" cy="88106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81725" y="5285482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NOTA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181725" y="5528370"/>
            <a:ext cx="111450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tres siguientes slides explican las causas del comportamiento observado.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NATURALEZA DEL MODELO · 2/3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desarrollador senior con amnesia.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4297561"/>
            <a:ext cx="79270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LLM actuales producen código equiparable al de un desarrollador senior.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5440561"/>
            <a:ext cx="792708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obstante, cada sesión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inicia sin información previa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proyecto ni de las decisiones tomadas con anterioridad.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66800" y="6551116"/>
            <a:ext cx="7927086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errores que se producen en ausencia de un proceso de onboarding explícito derivan del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desconocimiento del contexto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 de limitaciones de capacidad del modelo.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4747543"/>
            <a:ext cx="7696200" cy="2416373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90284" y="5214268"/>
            <a:ext cx="696563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PRINCIPIO OPERATIVO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90284" y="5657180"/>
            <a:ext cx="6965633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150" b="1" spc="-47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calidad del </a:t>
            </a:r>
            <a:pPr algn="ctr" indent="0" marL="0">
              <a:lnSpc>
                <a:spcPct val="130000"/>
              </a:lnSpc>
              <a:buNone/>
            </a:pPr>
            <a:r>
              <a:rPr lang="en-US" sz="3150" b="1" spc="-47" kern="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</a:t>
            </a:r>
            <a:pPr algn="ctr" indent="0" marL="0">
              <a:lnSpc>
                <a:spcPct val="130000"/>
              </a:lnSpc>
              <a:buNone/>
            </a:pPr>
            <a:r>
              <a:rPr lang="en-US" sz="3150" b="1" spc="-47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determina la calidad del </a:t>
            </a:r>
            <a:pPr algn="ctr" indent="0" marL="0">
              <a:lnSpc>
                <a:spcPct val="130000"/>
              </a:lnSpc>
              <a:buNone/>
            </a:pPr>
            <a:r>
              <a:rPr lang="en-US" sz="3150" b="1" spc="-47" kern="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</a:t>
            </a:r>
            <a:pPr algn="ctr" indent="0" marL="0">
              <a:lnSpc>
                <a:spcPct val="130000"/>
              </a:lnSpc>
              <a:buNone/>
            </a:pPr>
            <a:r>
              <a:rPr lang="en-US" sz="3150" b="1" spc="-47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NATURALEZA DEL MODELO · 3/3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 información insuficiente, el modelo completa por inferencia.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3210967"/>
            <a:ext cx="5905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771650" y="3172867"/>
            <a:ext cx="72403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modelos están diseñados para producir respuestas completas.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4125367"/>
            <a:ext cx="5905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71650" y="4087267"/>
            <a:ext cx="72403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ausencia de información, construyen contenido plausible por inferencia.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5039767"/>
            <a:ext cx="5905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771650" y="5001667"/>
            <a:ext cx="72403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control sobre el resultado se pierde sin que ello resulte evidente.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86900" y="3172867"/>
            <a:ext cx="7734300" cy="3694658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2" name="Shape 10"/>
          <p:cNvSpPr/>
          <p:nvPr/>
        </p:nvSpPr>
        <p:spPr>
          <a:xfrm>
            <a:off x="9486900" y="6858000"/>
            <a:ext cx="773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486900" y="3172867"/>
            <a:ext cx="773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486900" y="3172867"/>
            <a:ext cx="28575" cy="3694658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7211675" y="3172867"/>
            <a:ext cx="9525" cy="369465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896475" y="3563392"/>
            <a:ext cx="714222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E85D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DOCUMENTADO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96475" y="3911054"/>
            <a:ext cx="714222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62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h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896475" y="4711154"/>
            <a:ext cx="714222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trabajo autónomo sobre especificaciones incompletas que derivaron en un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E85D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desalineamiento silencioso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respecto a la intención original.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896475" y="5882729"/>
            <a:ext cx="6934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896475" y="6063704"/>
            <a:ext cx="7142226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Fuente: </a:t>
            </a:r>
            <a:pPr algn="l" indent="0" marL="0">
              <a:lnSpc>
                <a:spcPct val="155000"/>
              </a:lnSpc>
              <a:buNone/>
            </a:pPr>
            <a:r>
              <a:rPr lang="en-US" sz="1050" u="sng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How Models Operate…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medium.com · ai-in-plain-english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perfiles de instrucciones, una misma pregunta.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2779514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127177"/>
            <a:ext cx="431673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Comprobar cómo una única directriz de contexto puede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alterar el resultado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forma significativa.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66800" y="4509120"/>
            <a:ext cx="4191000" cy="913358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8725" y="4632945"/>
            <a:ext cx="398316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senior-dev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28725" y="4856783"/>
            <a:ext cx="3983165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conciso, sin redundancia, asume conocimiento técnico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66800" y="5536778"/>
            <a:ext cx="4191000" cy="692423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8725" y="5660603"/>
            <a:ext cx="398316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consultor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28725" y="5884441"/>
            <a:ext cx="3983165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enfoque ejecutivo: qué y para qué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6800" y="6343501"/>
            <a:ext cx="4191000" cy="692423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8725" y="6467326"/>
            <a:ext cx="398316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aprendiz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28725" y="6691164"/>
            <a:ext cx="3983165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didáctico, paso a paso, con analogías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2779514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320337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48450" y="3184327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repositorio Git, abrir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workshop-materials/custom-instructions/profiles/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943600" y="3640559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48450" y="3621509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Copiar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senior-dev.md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.github/copilot-instructions.md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943600" y="4077742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48450" y="4058692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una sesión nueva, formular: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"Explícame cómo hacer un POST con JSON usando httpx."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943600" y="451492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48450" y="4495874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Repetir el procedimiento con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consultor.md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aprendiz.md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cada uno en una sesión limpia.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943600" y="495210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48450" y="4933057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las tres respuestas de forma simultánea.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SÍNTESIS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Conclusiones del ejercicio.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5193729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674617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200" y="4584129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 determina el resultado en igual medida que el prompt.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6079554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560442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200" y="5469954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ausencia de instrucciones explícitas, el modelo establece supuestos no controlados.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66800" y="6446267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81200" y="6355779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instrucciones trasladan la ambigüedad desde el modelo hacia decisiones explícitas del operador.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HUMANO EN CONTROL · 1/2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rol del humano se transforma; no se elimina.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387974"/>
            <a:ext cx="7505700" cy="2395538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7325" y="4778499"/>
            <a:ext cx="692639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57325" y="5107112"/>
            <a:ext cx="692639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Escribir código línea por línea.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57325" y="5826249"/>
            <a:ext cx="69263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CODER</a:t>
            </a:r>
            <a:endParaRPr lang="en-US" sz="16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5490493"/>
            <a:ext cx="762000" cy="190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715500" y="4387974"/>
            <a:ext cx="7505700" cy="23955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" name="Text 8"/>
          <p:cNvSpPr/>
          <p:nvPr/>
        </p:nvSpPr>
        <p:spPr>
          <a:xfrm>
            <a:off x="10096500" y="4768974"/>
            <a:ext cx="694601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0A0A0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AHORA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096500" y="5097587"/>
            <a:ext cx="694601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especificaciones, gestionar contexto, orquestar agentes y establecer quality gates.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096500" y="6126287"/>
            <a:ext cx="69460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32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BUILDER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279332" y="7316912"/>
            <a:ext cx="772926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responsabilidad sobre el resultado permanece </a:t>
            </a:r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humano</a:t>
            </a:r>
            <a:pPr algn="ctr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HUMANO EN CONTROL · 2/2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puntos de control humano.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041204"/>
            <a:ext cx="7810500" cy="129540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5327079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4041204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4041204"/>
            <a:ext cx="28575" cy="129540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Shape 7"/>
          <p:cNvSpPr/>
          <p:nvPr/>
        </p:nvSpPr>
        <p:spPr>
          <a:xfrm>
            <a:off x="8867775" y="4041204"/>
            <a:ext cx="9525" cy="12954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00175" y="4403154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58330" y="4317429"/>
            <a:ext cx="385715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de especificaciones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24025" y="4746054"/>
            <a:ext cx="70538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Previa a la delegación de trabajo al agente.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410700" y="4041204"/>
            <a:ext cx="7810500" cy="129540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4" name="Shape 12"/>
          <p:cNvSpPr/>
          <p:nvPr/>
        </p:nvSpPr>
        <p:spPr>
          <a:xfrm>
            <a:off x="9410700" y="5327079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10700" y="4041204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410700" y="4041204"/>
            <a:ext cx="28575" cy="129540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7" name="Shape 15"/>
          <p:cNvSpPr/>
          <p:nvPr/>
        </p:nvSpPr>
        <p:spPr>
          <a:xfrm>
            <a:off x="17211675" y="4041204"/>
            <a:ext cx="9525" cy="12954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44075" y="4403154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102230" y="4317429"/>
            <a:ext cx="387601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 entre milestones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067925" y="4746054"/>
            <a:ext cx="70538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Puntos de control explícitos para avanzar o iterar.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066800" y="5641404"/>
            <a:ext cx="7810500" cy="1609725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6800" y="7241604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6800" y="5641404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66800" y="5641404"/>
            <a:ext cx="28575" cy="16097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7775" y="5641404"/>
            <a:ext cx="9525" cy="16097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400175" y="6003354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758330" y="5917629"/>
            <a:ext cx="25094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de código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724025" y="6346254"/>
            <a:ext cx="705383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el producto del agente, con el mismo nivel de exigencia aplicado al trabajo humano.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410700" y="5641404"/>
            <a:ext cx="7810500" cy="1609725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0700" y="7241604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410700" y="5641404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410700" y="5641404"/>
            <a:ext cx="28575" cy="16097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3" name="Shape 31"/>
          <p:cNvSpPr/>
          <p:nvPr/>
        </p:nvSpPr>
        <p:spPr>
          <a:xfrm>
            <a:off x="17211675" y="5641404"/>
            <a:ext cx="9525" cy="16097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744075" y="6003354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102230" y="5917629"/>
            <a:ext cx="38610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Retroalimentación al proceso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0067925" y="6346254"/>
            <a:ext cx="705383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 un fallo, la corrección se aplica sobre la especificación, no únicamente sobre el resultado.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24484" y="9096375"/>
            <a:ext cx="16639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patrón se conoce como </a:t>
            </a:r>
            <a:pPr algn="ctr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human-in-the-loop</a:t>
            </a:r>
            <a:pPr algn="ctr" indent="0" marL="0"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FUNDAMENTOS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1 · PAUSA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800" y="3083719"/>
            <a:ext cx="7448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66800" y="3579019"/>
            <a:ext cx="3055512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0" b="1" spc="-96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4000" dirty="0"/>
          </a:p>
        </p:txBody>
      </p:sp>
      <p:sp>
        <p:nvSpPr>
          <p:cNvPr id="6" name="Text 4"/>
          <p:cNvSpPr/>
          <p:nvPr/>
        </p:nvSpPr>
        <p:spPr>
          <a:xfrm>
            <a:off x="4414317" y="5593556"/>
            <a:ext cx="926604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spc="72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66800" y="6855619"/>
            <a:ext cx="895100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Retomamos a las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10:30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2 · Herramientas principales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66800" y="9182100"/>
            <a:ext cx="25669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821025" y="9182100"/>
            <a:ext cx="14763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PAUSA · 15 MIN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1 · BLOQUE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800" y="3515171"/>
            <a:ext cx="4532567" cy="3318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1500" b="1" spc="-1575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6381750" y="3003947"/>
            <a:ext cx="11164634" cy="2058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800" b="1" spc="-234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 principales.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6381750" y="5567660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72300" y="5520035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contexto y estrategia de sesiones.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381750" y="6047705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72300" y="6000080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instructions: reglas persistentes del proyecto.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81750" y="6527750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72300" y="6480125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files: procedimientos reutilizables.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381750" y="7007796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72300" y="6960171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agents: roles con herramientas acotadas.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66800" y="8963025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9182100"/>
            <a:ext cx="25669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5030450" y="9182100"/>
            <a:ext cx="2266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10:30 – 11:55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85 MIN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 CONTEXTO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componentes disponibles para el modelo comparten un mismo espacio.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5228406"/>
            <a:ext cx="8986647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comprende toda la información disponible en una sesión: instrucciones, especificaciones, código leído, mensajes previos, resultados de comandos y skills cargadas.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6646590"/>
            <a:ext cx="8986647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estos elementos ocupan un espacio finito: la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ventana de contexto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La inclusión de cada componente compite con la del resto.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553700" y="4398690"/>
            <a:ext cx="6667500" cy="3748087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91825" y="4636815"/>
            <a:ext cx="145777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WINDOW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94310" y="4646340"/>
            <a:ext cx="126496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espacio finito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10791825" y="4965427"/>
            <a:ext cx="6191250" cy="442913"/>
          </a:xfrm>
          <a:prstGeom prst="rect">
            <a:avLst/>
          </a:prstGeom>
          <a:solidFill>
            <a:srgbClr val="0A0A0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34700" y="5091633"/>
            <a:ext cx="1409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401550" y="5089252"/>
            <a:ext cx="457181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Instrucciones base del agente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0791825" y="5465490"/>
            <a:ext cx="6191250" cy="442913"/>
          </a:xfrm>
          <a:prstGeom prst="rect">
            <a:avLst/>
          </a:prstGeom>
          <a:solidFill>
            <a:srgbClr val="0A0A0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34700" y="5591696"/>
            <a:ext cx="1409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instructions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2401550" y="5589315"/>
            <a:ext cx="457181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del proyecto · copilot-instructions.md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0791825" y="5965552"/>
            <a:ext cx="6191250" cy="442913"/>
          </a:xfrm>
          <a:prstGeom prst="rect">
            <a:avLst/>
          </a:prstGeom>
          <a:solidFill>
            <a:srgbClr val="0A0A0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34700" y="6091758"/>
            <a:ext cx="1409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401550" y="6089377"/>
            <a:ext cx="457181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Especificaciones de la tarea actual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10791825" y="6465615"/>
            <a:ext cx="6191250" cy="442913"/>
          </a:xfrm>
          <a:prstGeom prst="rect">
            <a:avLst/>
          </a:prstGeom>
          <a:solidFill>
            <a:srgbClr val="0A0A0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34700" y="6591821"/>
            <a:ext cx="1409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401550" y="6589440"/>
            <a:ext cx="457181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Archivos leídos durante la sesión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10791825" y="6965677"/>
            <a:ext cx="6191250" cy="442913"/>
          </a:xfrm>
          <a:prstGeom prst="rect">
            <a:avLst/>
          </a:prstGeom>
          <a:solidFill>
            <a:srgbClr val="0A0A0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34700" y="7091883"/>
            <a:ext cx="1409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 history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2401550" y="7089502"/>
            <a:ext cx="457181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previos del turno actual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10791825" y="7465740"/>
            <a:ext cx="6191250" cy="442913"/>
          </a:xfrm>
          <a:prstGeom prst="rect">
            <a:avLst/>
          </a:prstGeom>
          <a:solidFill>
            <a:srgbClr val="0A0A0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34700" y="7591946"/>
            <a:ext cx="1409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outputs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2401550" y="7589565"/>
            <a:ext cx="457181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de comandos y skills cargadas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 CONTEXTO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ROT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volumen mayor de contexto no implica mejor resultado.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4580706"/>
            <a:ext cx="7927086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Conforme el contexto aumenta,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disminuye la adherencia al prompt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se incrementa la probabilidad de resultados no deseados.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5998890"/>
            <a:ext cx="7927086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degradación de la calidad es particularmente notoria en contextos de gran tamaño.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66800" y="6974160"/>
            <a:ext cx="7696200" cy="99060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7955235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6974160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6800" y="6974160"/>
            <a:ext cx="28575" cy="99060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" name="Shape 9"/>
          <p:cNvSpPr/>
          <p:nvPr/>
        </p:nvSpPr>
        <p:spPr>
          <a:xfrm>
            <a:off x="8753475" y="6974160"/>
            <a:ext cx="9525" cy="9906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04925" y="7155135"/>
            <a:ext cx="746988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Principio: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highlight>
                  <a:srgbClr val="17171A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el contexto relevante incorporado desde el inicio resulta preferible a la información recuperada bajo demanda.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525000" y="4488731"/>
            <a:ext cx="7696200" cy="356800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53625" y="4917356"/>
            <a:ext cx="704411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EXPERIMENTO · VERCEL AGENT EVALS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53625" y="5398368"/>
            <a:ext cx="336508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300" b="1" spc="-189" kern="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9953625" y="6232699"/>
            <a:ext cx="336508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embebida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contexto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53625" y="6823249"/>
            <a:ext cx="33650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 rate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525500" y="5398368"/>
            <a:ext cx="336508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300" b="1" spc="-189" kern="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79%</a:t>
            </a:r>
            <a:endParaRPr lang="en-US" sz="6300" dirty="0"/>
          </a:p>
        </p:txBody>
      </p:sp>
      <p:sp>
        <p:nvSpPr>
          <p:cNvPr id="19" name="Text 17"/>
          <p:cNvSpPr/>
          <p:nvPr/>
        </p:nvSpPr>
        <p:spPr>
          <a:xfrm>
            <a:off x="13525500" y="6232699"/>
            <a:ext cx="336508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 información mediante </a:t>
            </a:r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on-demand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525500" y="6823249"/>
            <a:ext cx="33650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 rate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9953625" y="7280449"/>
            <a:ext cx="68389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53625" y="7461424"/>
            <a:ext cx="704411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Fuente · </a:t>
            </a:r>
            <a:pPr algn="l" indent="0" marL="0">
              <a:buNone/>
            </a:pPr>
            <a:r>
              <a:rPr lang="en-US" sz="975" u="sng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vercel.com/blog/agents-md-outperforms-skills-in-our-agent-evals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 CONTEXTO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COMPACTION SILENCIOSA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saturarse la ventana, el agente descarta información sin aviso.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5053533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38300" y="4977333"/>
            <a:ext cx="74169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agentes modernos aplican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compaction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resumen o descartan fragmentos de la conversación para liberar espacio.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5967933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38300" y="5891733"/>
            <a:ext cx="74169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proceso ocurre sin notificación y sin intervención del usuario respecto a qué se conserva.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6882333"/>
            <a:ext cx="4572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38300" y="6806133"/>
            <a:ext cx="74169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Pueden perderse instrucciones críticas, decisiones arquitectónicas o criterios de aceptación.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48800" y="4978375"/>
            <a:ext cx="7772400" cy="2512516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2" name="Shape 10"/>
          <p:cNvSpPr/>
          <p:nvPr/>
        </p:nvSpPr>
        <p:spPr>
          <a:xfrm>
            <a:off x="9448800" y="7481367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448800" y="4978375"/>
            <a:ext cx="7772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448800" y="4978375"/>
            <a:ext cx="28575" cy="2512516"/>
          </a:xfrm>
          <a:prstGeom prst="rect">
            <a:avLst/>
          </a:prstGeom>
          <a:solidFill>
            <a:srgbClr val="E85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7211675" y="4978375"/>
            <a:ext cx="9525" cy="251251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858375" y="5368900"/>
            <a:ext cx="718146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E85D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DOCUMENTADO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58375" y="5735613"/>
            <a:ext cx="718146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Credenciales temporales proporcionadas a mitad de sesión.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858375" y="6250856"/>
            <a:ext cx="6972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858375" y="6450881"/>
            <a:ext cx="7181469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Tras la compactación, el agente perdió acceso a estas credenciales. La tarea se repitió en un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E85D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silencioso de fallos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 CONTEXTO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ESTRATEGIA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principios operativos para la gestión de contexto.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3983608"/>
            <a:ext cx="7848600" cy="161731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1125" y="4331271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9280" y="4259833"/>
            <a:ext cx="300592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problema por sesión.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04975" y="4696048"/>
            <a:ext cx="71126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Acotar el alcance; delegar la pieza siguiente en una ventana distinta.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372600" y="3983608"/>
            <a:ext cx="7848600" cy="161731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86925" y="4331271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45080" y="4259833"/>
            <a:ext cx="4147341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nueva al cambiar de tarea.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10775" y="4696048"/>
            <a:ext cx="711269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cambio de tarea debe iniciarse con una sesión limpia, sin excepciones.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66800" y="5867623"/>
            <a:ext cx="7848600" cy="161731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1125" y="6215286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39280" y="6143848"/>
            <a:ext cx="416029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Unidades pequeñas y delegables.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04975" y="6580063"/>
            <a:ext cx="71126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Fragmentar el trabajo en unidades de alcance manejable.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372600" y="5867623"/>
            <a:ext cx="7848600" cy="161731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86925" y="6215286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45080" y="6143848"/>
            <a:ext cx="485425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embebido antes que retrieval.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010775" y="6580063"/>
            <a:ext cx="711269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Proporcionar specs e instructions de forma directa, no solicitar al agente que las busque.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24484" y="9196388"/>
            <a:ext cx="1663903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Referencia · claude.com/blog/using-claude-code-session-management-and-1m-context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 CONTEXTO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 sesiones en Copilot Chat.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2779514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127177"/>
            <a:ext cx="4316730" cy="1833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Desarrollar el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hábito operativo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iniciar una sesión limpia al cambiar de tarea. La acción es menor; el impacto sobre la calidad es considerable.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800" y="5379616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DISCUSIÓN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66800" y="5727278"/>
            <a:ext cx="4316730" cy="9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 tarea, nueva sesión. Este procedimiento debe incorporarse como práctica habitual.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943600" y="2779514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320337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3184327"/>
            <a:ext cx="1088993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Copilot Chat y formular una consulta breve: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"Resumir en tres puntos los beneficios de los type hints en Python."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3944392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3925342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Localizar la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historia de chats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panel de Copilot (icono de historial).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438157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4362524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una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nueva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mediante el botón "+" o el comando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Chat: New Chat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0" y="481875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8450" y="4799707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que la nueva sesión comienza sin información residual de la anterior.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43600" y="5255940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48450" y="5236890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Volver a la sesión previa desde el historial y, si procede, eliminarla.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 CONTEXTO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SÍNTESIS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intencional del contexto.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550792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031679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200" y="3941192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 constituye un recurso escaso y debe gestionarse con intención.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5436617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4917504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200" y="4827017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cambio de tarea exige el inicio de una sesión nueva.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66800" y="6722492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5803329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81200" y="5712842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información que ha dejado de ser relevante en una conversación puede deteriorar el resultado si permanece en ella.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66800" y="7089204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981200" y="6998717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siguiente bloque se aborda el suministro de contexto de forma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estructurada y persistente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sin dependencia del chat.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 CONTEXTO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INSTRUCTIONS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persistente del agente respecto al proyecto.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4246662"/>
            <a:ext cx="7456170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 Markdown que GitHub Copilot incorpora de forma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automática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todas las interacciones asociadas al repositorio Git.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5664845"/>
            <a:ext cx="7456170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fijar idioma, tono, stack tecnológico, convenciones, dominio y restricciones, así como cualquier preferencia estable del proyecto.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6994401"/>
            <a:ext cx="7456170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inyección del contenido es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permanente 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sin necesidad de reintroducirlo en cada interacción.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39200" y="4131692"/>
            <a:ext cx="8382000" cy="3686175"/>
          </a:xfrm>
          <a:prstGeom prst="roundRect">
            <a:avLst>
              <a:gd name="adj" fmla="val 2067"/>
            </a:avLst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15425" y="435076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.github/copilot-instructions.md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15425" y="464604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Rol y tono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15425" y="494131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Respuestas en español.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15425" y="523659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Explicación ejecutiva, sin jerga.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15425" y="553186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Stack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15425" y="582714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Python 3.12 · FastAPI · pytest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15425" y="612241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Evitar dependencias pesadas sin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15425" y="641769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justificación explícita.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15425" y="671296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## Restricciones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15425" y="700824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No modificar migraciones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15425" y="730351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sin confirmación previa.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6764000" y="4245992"/>
            <a:ext cx="342900" cy="342900"/>
          </a:xfrm>
          <a:prstGeom prst="roundRect">
            <a:avLst>
              <a:gd name="adj" fmla="val 11111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0" y="4341242"/>
            <a:ext cx="152400" cy="152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INSTRUCTIONS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UBICACIONES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niveles de aplicación para un mismo formato Markdown.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237509"/>
            <a:ext cx="16154400" cy="105727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4628034"/>
            <a:ext cx="552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124075" y="4494684"/>
            <a:ext cx="353187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 repositorio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24075" y="4832821"/>
            <a:ext cx="35318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.github/copilot-instructions.md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7875" y="4608984"/>
            <a:ext cx="114197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aplicables de forma transversal al repositorio Git. Carga automática.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066800" y="5485284"/>
            <a:ext cx="16154400" cy="105727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3025" y="5875809"/>
            <a:ext cx="552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124075" y="5742459"/>
            <a:ext cx="353187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 personal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24075" y="6080596"/>
            <a:ext cx="35318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Code user settings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7875" y="5856759"/>
            <a:ext cx="114197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Instrucciones globales que afectan a todos los repositorios Git del usuario.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66800" y="6733059"/>
            <a:ext cx="16154400" cy="1057275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3025" y="7123584"/>
            <a:ext cx="5524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124075" y="6990234"/>
            <a:ext cx="353187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por ruta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24075" y="7328371"/>
            <a:ext cx="353187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.github/instructions/*.instructions.md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7875" y="7104534"/>
            <a:ext cx="114197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Mediante el campo `applyTo` del frontmatter; se cargan únicamente cuando la ruta coincide.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24484" y="9121676"/>
            <a:ext cx="16639032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Nota: la configuración </a:t>
            </a:r>
            <a:pPr algn="ctr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github.copilot.chat.codeGeneration.useInstructionFiles </a:t>
            </a:r>
            <a:pPr algn="ctr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quedó en desuso a partir de VS Code 1.102; la carga se realiza de forma automática.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INSTRUCTIONS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CASOS DE USO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Contenidos habituales de las custom instructions.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3926904"/>
            <a:ext cx="16154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165029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Idioma y tono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495800" y="4165029"/>
            <a:ext cx="13107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Español ejecutivo, español técnico o inglés, según corresponda al proyecto.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66800" y="4736529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4974654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tecnológico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95800" y="4974654"/>
            <a:ext cx="13107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 del stack obligatorio y elementos a evitar.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66800" y="5546154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5784279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Contexto de dominio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95800" y="5784279"/>
            <a:ext cx="13107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Glosario y decisiones estructurales que no deben reintroducirse en cada sesión.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6355779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6593904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Restricciones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495800" y="6593904"/>
            <a:ext cx="13107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Elementos excluidos de intervención automática: migraciones, credenciales, APIs públicas.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7975029"/>
            <a:ext cx="16154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66800" y="7165404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66800" y="7403529"/>
            <a:ext cx="313944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Convenciones de código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495800" y="7403529"/>
            <a:ext cx="131071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Nomenclatura, imports, docstrings; habitualmente candidatos a definición por ruta mediante `applyTo`.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INSTRUCTIONS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HIGIENE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contenido de las instructions debe mantenerse acotado.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5090740"/>
            <a:ext cx="792708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custom instructions se incorporan en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interacción y consumen parte de la ventana de contexto.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6125096"/>
            <a:ext cx="7927086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 rector: la información incluida debe ser </a:t>
            </a:r>
            <a:pPr algn="l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siempre relevante</a:t>
            </a:r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6746081"/>
            <a:ext cx="7927086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elementos circunstanciales —una tarea puntual, datos temporales— corresponden al prompt, no a las instructions.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0" y="4565452"/>
            <a:ext cx="7696200" cy="34145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9982200" y="5022652"/>
            <a:ext cx="698525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0A0A0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PRINCIPIO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982200" y="5389364"/>
            <a:ext cx="6985254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144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reglas, más efecto.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982200" y="6859935"/>
            <a:ext cx="698525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Incluir únicamente las reglas estables y de alto impacto; omitir el resto.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INSTRUCTIONS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Elaboración de un copilot-instructions.md propio.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2779514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127177"/>
            <a:ext cx="4316730" cy="1474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participante elabora un perfil propio. A continuación se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comparan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respuestas del agente bajo distintos perfiles.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943600" y="2779514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320337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8450" y="3184327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.github/copilot-instructions.md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repositorio Git.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43600" y="3640559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3621509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Tomar como referencia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workshop-materials/custom-instructions/base/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4077742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4058692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Incluir los elementos relevantes sobre rol, nivel, idioma, tono y nivel de detalle esperado en las respuestas.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451492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4495874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una sesión nueva y formular una consulta; observar la aplicación de las reglas por parte del agente.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0" y="495210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8450" y="4933057"/>
            <a:ext cx="1088993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 grupal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dos o tres participantes comparten pantalla, ejecutan el mismo prompt y se comparan los resultados.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INSTRUCTIONS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SÍNTESIS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Instructions: onboarding persistente del agente.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5193729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674617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200" y="4584129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custom instructions constituyen el onboarding persistente del agente al proyecto.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6079554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560442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200" y="5469954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diferencia es sustancial respecto al modo conversacional sin contexto estructurado.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66800" y="6446267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81200" y="6355779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continuación: invocación de un conjunto de instrucciones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demanda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aplicable únicamente a una tarea específica —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files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4200659" y="9753600"/>
            <a:ext cx="31111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INSTRUCTIONS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 reutilizables, invocados mediante 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/&lt;nombre&gt;</a:t>
            </a:r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4691881"/>
            <a:ext cx="7456170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Archivos Markdown que contienen un prompt reutilizable. Su invocación es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desde Copilot Chat.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5726237"/>
            <a:ext cx="745617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Ubicación: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.github/prompts/&lt;nombre&gt;.prompt.md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repositorio Git, o a nivel personal en la configuración de VS Code.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6587207"/>
            <a:ext cx="745617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diferencia de las instructions —siempre activas—, los prompt files se incorporan al contexto </a:t>
            </a:r>
            <a:pPr algn="l" indent="0" marL="0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únicamente al ser invocados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839200" y="4131692"/>
            <a:ext cx="8382000" cy="3686175"/>
          </a:xfrm>
          <a:prstGeom prst="roundRect">
            <a:avLst>
              <a:gd name="adj" fmla="val 2067"/>
            </a:avLst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15425" y="435076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.github/prompts/business-analyst.prompt.md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15425" y="464604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15425" y="494131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BA que genera specs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15425" y="523659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mode: 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15425" y="553186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15425" y="582714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Role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15425" y="612241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 analyst senior…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15425" y="641769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Process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15425" y="671296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 Solicitar descripción de la feature.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15425" y="7008242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 Formular 3-5 preguntas clave.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15425" y="7303517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 Redactar la especificación funcional.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6764000" y="4245992"/>
            <a:ext cx="342900" cy="342900"/>
          </a:xfrm>
          <a:prstGeom prst="roundRect">
            <a:avLst>
              <a:gd name="adj" fmla="val 11111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0" y="4341242"/>
            <a:ext cx="152400" cy="152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Construcción de un prompt file con rol Business Analyst.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3353991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701653"/>
            <a:ext cx="4316730" cy="1833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Utilizar un prompt semilla para que Copilot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genere el prompt file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y, posteriormente, invocarlo para producir una especificación funcional.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943600" y="3353991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3777853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8450" y="3758803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workshop-materials/prompts/business-analyst/seed-prompt.md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43600" y="4215036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4195986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Insertar el contenido del seed en una sesión nueva y permitir que Copilot genere la propuesta.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4652218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4633168"/>
            <a:ext cx="1088993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y ajustar el resultado (idioma, secciones, tono); guardarlo como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.github/prompts/business-analyst.prompt.md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539323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5374184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workshop-materials/prompts/business-analyst/feature-description.md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0" y="5830416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8450" y="5811366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una sesión nueva, invocar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/business-analyst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proporcionar la descripción.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43600" y="6267599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48450" y="6248549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 dos o tres preguntas del agente y observar la construcción de la especificación.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5943600" y="6857181"/>
            <a:ext cx="11277600" cy="1157288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8004944"/>
            <a:ext cx="11277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6857181"/>
            <a:ext cx="11277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6857181"/>
            <a:ext cx="28575" cy="115728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0" name="Shape 28"/>
          <p:cNvSpPr/>
          <p:nvPr/>
        </p:nvSpPr>
        <p:spPr>
          <a:xfrm>
            <a:off x="17211675" y="6857181"/>
            <a:ext cx="9525" cy="1157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81725" y="7038156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NOTA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181725" y="7281044"/>
            <a:ext cx="1114501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interfaz de VS Code puede solicitar los argumentos de forma interactiva, aceptarlos en la misma línea de invocación, o tomar el siguiente mensaje como entrada, según cómo esté definido el prompt.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CASOS DE USO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tarea recurrente justifica un prompt file.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084067"/>
            <a:ext cx="7848600" cy="1595438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1125" y="4422204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9280" y="4360292"/>
            <a:ext cx="233563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de código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04975" y="4774629"/>
            <a:ext cx="711269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estructurada del código seleccionado: claridad, seguridad y cobertura de pruebas.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372600" y="4084067"/>
            <a:ext cx="7848600" cy="1595438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86925" y="4422204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45080" y="4360292"/>
            <a:ext cx="3958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especificaciones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10775" y="4774629"/>
            <a:ext cx="711269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Elaboración de una especificación funcional a partir de una descripción inicial.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66800" y="5946204"/>
            <a:ext cx="7848600" cy="1281113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1125" y="6284342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39280" y="6222429"/>
            <a:ext cx="24735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recurrentes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04975" y="6636767"/>
            <a:ext cx="71126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Evaluaciones periódicas de seguridad, rendimiento y accesibilidad.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372600" y="5946204"/>
            <a:ext cx="7848600" cy="1281113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86925" y="6284342"/>
            <a:ext cx="2819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45080" y="6222429"/>
            <a:ext cx="329434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Entregables de consultoría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010775" y="6636767"/>
            <a:ext cx="71126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Informes ejecutivos, minutas, análisis de entrevistas y checklists.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24484" y="9115425"/>
            <a:ext cx="166390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instrucciones que hoy se redactan de forma repetida pueden consolidarse como un comando reutilizable.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instructions y prompt files son complementarios.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3997003"/>
            <a:ext cx="7886700" cy="3184029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3525" y="4463728"/>
            <a:ext cx="716184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 PERMANENTE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33525" y="4830440"/>
            <a:ext cx="716184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instructions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33525" y="5473378"/>
            <a:ext cx="716184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Activas en cada interacción.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33525" y="6064821"/>
            <a:ext cx="7161848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estables y de alcance transversal: idioma, stack y convenciones.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334500" y="3997003"/>
            <a:ext cx="7886700" cy="3184029"/>
          </a:xfrm>
          <a:prstGeom prst="rect">
            <a:avLst/>
          </a:prstGeom>
          <a:solidFill>
            <a:srgbClr val="0A0A0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10750" y="4473253"/>
            <a:ext cx="714222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INVOCACIÓN A DEMANDA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10750" y="4839965"/>
            <a:ext cx="71422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810750" y="5482903"/>
            <a:ext cx="714222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incorporan mediante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/&lt;nombre&gt;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810750" y="6074346"/>
            <a:ext cx="714222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Flujos de trabajo específicos, aplicados con intención.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4484" y="9058275"/>
            <a:ext cx="1663903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base en instructions; flujos de trabajo específicos en prompt files.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QUÉ APRENDIMOS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files: tareas recurrentes convertidas en comandos.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5067821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548708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200" y="4458221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prompt files convierten tareas recurrentes en comandos reutilizables.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5953646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434533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200" y="5344046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incorporación al contexto ocurre únicamente durante su invocación, con un costo acotado.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66800" y="6839471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6320358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81200" y="6229871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Constituyen prompts, no agentes: no definen tooling propio ni capacidades adicionales.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66800" y="7206183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981200" y="7115696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continuación, la especialización del agente con herramientas, modelo y MCP propios —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agents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AGENTS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Perfiles especializados: rol, tooling, modelo y MCP.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4703266"/>
            <a:ext cx="7456170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Corresponden a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dedicados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code-reviewer, business-analyst, security-advisor, architect.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5737622"/>
            <a:ext cx="745617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 Markdown con frontmatter YAML —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</a:t>
            </a:r>
            <a:pPr algn="l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y el prompt correspondiente en el cuerpo del documento.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6598593"/>
            <a:ext cx="745617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Disponibilidad: GA en VS Code · 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preview 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JetBrains, Eclipse y Xcode · también accesibles en GitHub.com y Copilot CLI.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39200" y="3965004"/>
            <a:ext cx="8382000" cy="3981450"/>
          </a:xfrm>
          <a:prstGeom prst="roundRect">
            <a:avLst>
              <a:gd name="adj" fmla="val 1914"/>
            </a:avLst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15425" y="4184079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.github/agents/code-reviewer.agent.md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15425" y="4479354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15425" y="4774629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name: code-reviewer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15425" y="5069904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description: Revisa código Python.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15425" y="5365179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tools: [read_file, grep, search]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15425" y="5660454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model: gpt-4o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15425" y="5955729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---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15425" y="6251004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Rol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15425" y="6546279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reviewer senior…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15425" y="6841554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Formato de salida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15425" y="7136829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Blockers · Warnings · Nits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15425" y="7432104"/>
            <a:ext cx="7711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Cada ítem cita archivo:línea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6764000" y="4079304"/>
            <a:ext cx="342900" cy="342900"/>
          </a:xfrm>
          <a:prstGeom prst="roundRect">
            <a:avLst>
              <a:gd name="adj" fmla="val 11111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0" y="4174554"/>
            <a:ext cx="152400" cy="152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14766429" y="9753600"/>
            <a:ext cx="25309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AGENTS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 de un custom agent: code-reviewer.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2779514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127177"/>
            <a:ext cx="4316730" cy="1474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Emplear a Copilot para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generar un agente propio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partir de un seed, y utilizarlo para la revisión de código.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943600" y="2779514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3203377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8450" y="3184327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Copiar el seed desde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workshop-materials/agents/code-reviewer/seed-prompt.md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43600" y="3640559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3621509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Insertarlo en una sesión nueva y permitir que Copilot genere la propuesta.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4077742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4058692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Ajustar rol, tono y tools según corresponda.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451492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4495874"/>
            <a:ext cx="1088993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el agente: comando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/create-agent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chat, o bien Command Palette →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Chat: New Custom Agent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0" y="5255940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8450" y="5236890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Seleccionar el scope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VS Code generará el archivo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.github/agents/&lt;nombre&gt;.agent.md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43600" y="5693122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48450" y="5674072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Seleccionar el agente en el selector del chat y solicitar la revisión de un archivo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.py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repositorio Git.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5943600" y="6282705"/>
            <a:ext cx="11277600" cy="1157288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7430467"/>
            <a:ext cx="11277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6282705"/>
            <a:ext cx="11277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6282705"/>
            <a:ext cx="28575" cy="115728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0" name="Shape 28"/>
          <p:cNvSpPr/>
          <p:nvPr/>
        </p:nvSpPr>
        <p:spPr>
          <a:xfrm>
            <a:off x="17211675" y="6282705"/>
            <a:ext cx="9525" cy="115728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81725" y="646368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NOTA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181725" y="6706567"/>
            <a:ext cx="1114501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interfaz puede presentar diferencias entre versiones de VS Code.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Procedimiento alternativo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el repositorio Git incluye un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code-reviewer.agent.md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preconfigurado; su copia directa a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.github/agents/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 suficiente.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766429" y="9753600"/>
            <a:ext cx="25309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AGENTS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files y custom agents operan de forma conjunta.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292278"/>
            <a:ext cx="7886700" cy="2621161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4720903"/>
            <a:ext cx="724033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95425" y="5068565"/>
            <a:ext cx="724033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Plantilla de prompt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95425" y="5625778"/>
            <a:ext cx="724033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carga a demanda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cualquier sesión.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95425" y="6141021"/>
            <a:ext cx="724033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reutilizable, sin herramientas propias.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334500" y="4292278"/>
            <a:ext cx="7886700" cy="2621161"/>
          </a:xfrm>
          <a:prstGeom prst="rect">
            <a:avLst/>
          </a:prstGeom>
          <a:solidFill>
            <a:srgbClr val="0A0A0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2650" y="4730428"/>
            <a:ext cx="722071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AGENT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72650" y="5078090"/>
            <a:ext cx="7220712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Identidad persistente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72650" y="5635303"/>
            <a:ext cx="722071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base, herramientas, modelo y MCP propios.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72650" y="6150546"/>
            <a:ext cx="722071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 establecido antes de iniciar la conversación.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4484" y="9047857"/>
            <a:ext cx="1663903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selección de un custom agent permite invocar prompt files dentro de la sesión mediante </a:t>
            </a:r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/&lt;nombre&gt;</a:t>
            </a:r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4766429" y="9753600"/>
            <a:ext cx="25309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AGENTS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QUÉ APRENDIMOS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agents: roles especializados con herramientas propias.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867796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348683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200" y="4258196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custom agents son agentes especializados con tooling y modelo propios.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5753621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234508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200" y="5144021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mismo repositorio Git puede alojar varios; el agente correspondiente se activa según la tarea.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66800" y="7039496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6120333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81200" y="6029846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Sustituyen una parte significativa del prompt que previamente debía reintroducirse en cada interacción.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66800" y="7406208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981200" y="7315721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continuación: la combinación de un custom agent con un prompt file para producir flujos reutilizables y acotados.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4766429" y="9753600"/>
            <a:ext cx="25309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AGENTS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1 · PAUSA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800" y="3083719"/>
            <a:ext cx="7448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66800" y="3579019"/>
            <a:ext cx="3055512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0" b="1" spc="-96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24000" dirty="0"/>
          </a:p>
        </p:txBody>
      </p:sp>
      <p:sp>
        <p:nvSpPr>
          <p:cNvPr id="6" name="Text 4"/>
          <p:cNvSpPr/>
          <p:nvPr/>
        </p:nvSpPr>
        <p:spPr>
          <a:xfrm>
            <a:off x="4414317" y="5593556"/>
            <a:ext cx="926604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spc="72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66800" y="6855619"/>
            <a:ext cx="8969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Retomamos a las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12:10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3 · Integración y extensiones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66800" y="9182100"/>
            <a:ext cx="25669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5821025" y="9182100"/>
            <a:ext cx="14763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PAUSA · 15 MIN</a:t>
            </a:r>
            <a:endParaRPr lang="en-US" sz="11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 1 · BLOQUE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800" y="3515171"/>
            <a:ext cx="4532567" cy="3318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1500" b="1" spc="-1575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6381750" y="3243932"/>
            <a:ext cx="11164634" cy="2058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800" b="1" spc="-234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y extensiones.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6381750" y="5807646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72300" y="5760021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Composición: prompt file + custom agent en un mismo flujo.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381750" y="6287691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72300" y="6240066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skills: capacidades reutilizables del agente.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81750" y="6767736"/>
            <a:ext cx="495300" cy="337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spc="5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72300" y="6720111"/>
            <a:ext cx="881005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servers: acceso controlado a datos y herramientas externas.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66800" y="8963025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9182100"/>
            <a:ext cx="25669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5030450" y="9182100"/>
            <a:ext cx="2266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12:10 – 12:45 </a:t>
            </a:r>
            <a:pPr algn="l" indent="0" marL="0">
              <a:buNone/>
            </a:pPr>
            <a:r>
              <a:rPr lang="en-US" sz="1125" spc="113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35 MIN</a:t>
            </a:r>
            <a:endParaRPr lang="en-US" sz="11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INTEGRACIÓN: ROL Y FLUJO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agente aporta el rol; el prompt file aporta el flujo.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355083"/>
            <a:ext cx="5003750" cy="2181225"/>
          </a:xfrm>
          <a:prstGeom prst="rect">
            <a:avLst/>
          </a:prstGeom>
          <a:ln w="1905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2550" y="4678933"/>
            <a:ext cx="456521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352550" y="4978971"/>
            <a:ext cx="45652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agent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52550" y="5412358"/>
            <a:ext cx="456521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· modelo · MCP identidad estable</a:t>
            </a:r>
            <a:endParaRPr lang="en-US" sz="112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550" y="5331396"/>
            <a:ext cx="5715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42050" y="4355083"/>
            <a:ext cx="5003825" cy="2181225"/>
          </a:xfrm>
          <a:prstGeom prst="rect">
            <a:avLst/>
          </a:prstGeom>
          <a:solidFill>
            <a:srgbClr val="17171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7800" y="4678933"/>
            <a:ext cx="456529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 · FLUJO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6927800" y="4978971"/>
            <a:ext cx="45652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/structured-review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927800" y="5340921"/>
            <a:ext cx="443232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927800" y="5483796"/>
            <a:ext cx="4565295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· analizar 2 · clasificar 3 · formatear salida</a:t>
            </a:r>
            <a:endParaRPr lang="en-US" sz="112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875" y="5331396"/>
            <a:ext cx="571500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217375" y="4355083"/>
            <a:ext cx="5003750" cy="21812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7" name="Text 13"/>
          <p:cNvSpPr/>
          <p:nvPr/>
        </p:nvSpPr>
        <p:spPr>
          <a:xfrm>
            <a:off x="12484075" y="5039916"/>
            <a:ext cx="4604461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 consistente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12484075" y="5479926"/>
            <a:ext cx="46044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spc="137" kern="0" dirty="0">
                <a:solidFill>
                  <a:srgbClr val="0A0A0A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ROL EJECUTA EL FLUJO CON EL CONTEXTO APROPIADO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1066800" y="7069708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066800" y="7307833"/>
            <a:ext cx="792708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agent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rol y capacidades. Identidad estable.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9525000" y="7307833"/>
            <a:ext cx="792708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flujo invocable. Acción definida.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 + FLUJO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 de una revisión estructurada por el code-reviewer.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3353991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701653"/>
            <a:ext cx="431673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la convergencia del rol (custom agent) y el flujo (prompt file) en una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 consistente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943600" y="3353991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3777853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8450" y="3758803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workshop-materials/prompts/structured-review/seed-prompt.md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43600" y="4215036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4195986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Insertar el seed en una sesión nueva; permitir que Copilot genere la propuesta del prompt file.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4652218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4633168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y guardar como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.github/prompts/structured-review.prompt.md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5089401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5070351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Seleccionar el custom agent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selector del chat.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0" y="552658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8450" y="5507534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Invocar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/structured-review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un archivo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.py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repositorio Git.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43600" y="5963766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48450" y="5944716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la convergencia de la salida: rol y flujo operan en la misma dirección.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 + FLUJO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QUÉ APRENDIMOS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+ flujo: base operativa del pipeline.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993704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474592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200" y="4384104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(custom agent) y flujo (prompt file) constituyen piezas complementarias.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6279579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360417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200" y="5269929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combinación reduce de forma considerable el contexto ad-hoc que debe reintroducirse en cada interacción.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66800" y="6646292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81200" y="6555804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patrón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+ workflow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constituye la base sobre la que se construye el pipeline del segundo workshop.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 + FLUJO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SKILLS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Carpetas que Copilot carga de forma automática por relevancia.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5049813"/>
            <a:ext cx="7966329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Instrucciones, scripts y recursos que Copilot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 automáticamente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según el prompt y la descripción del skill.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6046068"/>
            <a:ext cx="7966329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invocación manual mediante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/comando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aplicable; el momento de carga lo determina el agente.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6886054"/>
            <a:ext cx="796632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Ubicaciones: 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.github/skills/ 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(repositorio Git), 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~/.copilot/skills/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~/.claude/skills/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~/.agents/skills/</a:t>
            </a:r>
            <a:pPr algn="l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Coexistentes.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86900" y="4434111"/>
            <a:ext cx="7734300" cy="3677245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9" name="Shape 7"/>
          <p:cNvSpPr/>
          <p:nvPr/>
        </p:nvSpPr>
        <p:spPr>
          <a:xfrm>
            <a:off x="9486900" y="8101831"/>
            <a:ext cx="773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486900" y="4434111"/>
            <a:ext cx="77343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486900" y="4434111"/>
            <a:ext cx="28575" cy="367724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2" name="Shape 10"/>
          <p:cNvSpPr/>
          <p:nvPr/>
        </p:nvSpPr>
        <p:spPr>
          <a:xfrm>
            <a:off x="17211675" y="4434111"/>
            <a:ext cx="9525" cy="367724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896475" y="4824636"/>
            <a:ext cx="714222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CONSIDERACIÓN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96475" y="5191348"/>
            <a:ext cx="714222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 embebido muestra mejor rendimiento que el retrieval bajo demanda (100% frente a 79%).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896475" y="6031334"/>
            <a:ext cx="714222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skills constituyen, por diseño, un mecanismo de retrieval a demanda.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896475" y="6871320"/>
            <a:ext cx="6934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96475" y="7071345"/>
            <a:ext cx="7142226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de aplicación: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opcionales cuya incorporación permanente al contexto resultaría costosa.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SKILLS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Instalación de un skill y observación de su activación.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3353991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701653"/>
            <a:ext cx="431673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Comprobar que Copilot detecta la capacidad relevante y la carga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invocación explícita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6800" y="5235997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DISCUSIÓN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66800" y="5583659"/>
            <a:ext cx="431673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invocación manual no fue necesaria; la carga se produjo de forma automática.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943600" y="3353991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3777853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3758803"/>
            <a:ext cx="1088993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Copiar la carpeta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workshop-materials/skills/pdf-summarizer/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.github/skills/pdf-summarizer/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4518868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4499818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una sesión en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mode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4956051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4937001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 la solicitud: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"Resumir el PDF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workshop-materials/samples/sample.pdf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puntos."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0" y="539323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8450" y="5374184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la detección del skill relevante y su carga previa a la respuesta.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SKILLS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COMPARACIÓN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Decisión del usuario frente a decisión del agente.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297487"/>
            <a:ext cx="7886700" cy="2610743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4726112"/>
            <a:ext cx="724033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95425" y="5073774"/>
            <a:ext cx="724033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Invocación manual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95425" y="5630987"/>
            <a:ext cx="724033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/&lt;nombre&gt;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decisión del usuario sobre el momento de invocación.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95425" y="6165279"/>
            <a:ext cx="7240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explícito.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334500" y="4297487"/>
            <a:ext cx="7886700" cy="2610743"/>
          </a:xfrm>
          <a:prstGeom prst="rect">
            <a:avLst/>
          </a:prstGeom>
          <a:solidFill>
            <a:srgbClr val="0A0A0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2650" y="4735637"/>
            <a:ext cx="722071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SKILLS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772650" y="5083299"/>
            <a:ext cx="7220712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automática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772650" y="5640512"/>
            <a:ext cx="722071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determina la activación en función de la relevancia.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772650" y="6174804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Admiten 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archivos auxiliares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scripts, plantillas y datos.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8037" y="9047857"/>
            <a:ext cx="1251192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 cuando se requiera control explícito; skill cuando la capacidad deba estar disponible y activarse por relevancia.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4860712" y="9753600"/>
            <a:ext cx="2436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SKILLS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· MODEL CONTEXT PROTOCOL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conectables mediante una interfaz estándar.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5154141"/>
            <a:ext cx="8947404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abierto que permite al agente conectarse a servidores externos y utilizar sus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herramientas y datos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6150397"/>
            <a:ext cx="8947404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Ejemplos: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context7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(documentación oficial actualizada), GitHub, Slack, bases de datos y servicios internos.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6990383"/>
            <a:ext cx="8947404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Configuración a nivel workspace: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.vscode/mcp.json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0" y="4234383"/>
            <a:ext cx="6858000" cy="4000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952500"/>
            <a:ext cx="1144563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/>
        </p:nvSpPr>
        <p:spPr>
          <a:xfrm>
            <a:off x="1200150" y="1047750"/>
            <a:ext cx="95406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HANDS-ON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11363" y="1357313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11363" y="952500"/>
            <a:ext cx="1044401" cy="9525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Shape 5"/>
          <p:cNvSpPr/>
          <p:nvPr/>
        </p:nvSpPr>
        <p:spPr>
          <a:xfrm>
            <a:off x="3246239" y="952500"/>
            <a:ext cx="9525" cy="41433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2344713" y="1057275"/>
            <a:ext cx="84437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44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444936" y="952500"/>
            <a:ext cx="185246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EJERCICIO PRÁCTICO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1709738"/>
            <a:ext cx="13735050" cy="1187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spc="-96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Configuración de context7 para consulta de documentación.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1066800" y="3353991"/>
            <a:ext cx="431673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66800" y="3701653"/>
            <a:ext cx="4316730" cy="1474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context7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proporciona documentación oficial y actualizada de librerías, mitigando la referencia a APIs inexistentes.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943600" y="3353991"/>
            <a:ext cx="1161592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3777853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48450" y="3758803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o crear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.vscode/mcp.json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repositorio Git.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943600" y="4215036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48450" y="4195986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Copiar la configuración desde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workshop-materials/mcp/context7.json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943600" y="4652218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48450" y="4633168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Guardar los cambios y reiniciar Copilot si la interfaz lo requiere.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943600" y="5089401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48450" y="5070351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una sesión en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mode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943600" y="5526584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48450" y="5507534"/>
            <a:ext cx="10889933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Formular la consulta: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"Indicar el uso de httpx para una petición POST con reintento automático. Consultar context7."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43600" y="6267599"/>
            <a:ext cx="5905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48450" y="6248549"/>
            <a:ext cx="10889933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la invocación del servidor MCP previa a la respuesta.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5943600" y="6857181"/>
            <a:ext cx="11277600" cy="143351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8281169"/>
            <a:ext cx="11277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6857181"/>
            <a:ext cx="112776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0" y="6857181"/>
            <a:ext cx="28575" cy="143351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0" name="Shape 28"/>
          <p:cNvSpPr/>
          <p:nvPr/>
        </p:nvSpPr>
        <p:spPr>
          <a:xfrm>
            <a:off x="17211675" y="6857181"/>
            <a:ext cx="9525" cy="143351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81725" y="7038156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NOTA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6181725" y="7281044"/>
            <a:ext cx="11145012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primera conexión requiere confirmación mediante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prompt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Si el proxy corporativo impide la conexión, el </a:t>
            </a:r>
            <a:pPr algn="l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procedimiento alternativo </a:t>
            </a:r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 en revisar las capturas pre-generadas y dejar el ejercicio como actividad posterior al workshop.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QUÉ APRENDIMOS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MCP: integración de herramientas y datos externos.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5393754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474592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981200" y="4384104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extiende las capacidades del agente con herramientas y datos externos sin necesidad de incorporarlos al contexto.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6279579"/>
            <a:ext cx="14287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5760467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81200" y="5669979"/>
            <a:ext cx="1377429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context7 constituye el caso de uso más habitual: documentación viva disponible para el agente.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66800" y="6646292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81200" y="6555804"/>
            <a:ext cx="1377429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un ecosistema creciente de servidores MCP susceptibles de integración según las necesidades del proyecto.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4954994" y="9753600"/>
            <a:ext cx="234240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SERVERS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COPILOT COMO ASISTENTE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patrón es aplicable más allá del dominio del código.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4902845"/>
            <a:ext cx="7966329" cy="1189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mismas piezas en un dominio diferente: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instructions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tono y estructura,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files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análisis recurrentes y </a:t>
            </a:r>
            <a:pPr algn="l" indent="0" marL="0">
              <a:lnSpc>
                <a:spcPct val="155000"/>
              </a:lnSpc>
              <a:buNone/>
            </a:pPr>
            <a:r>
              <a:rPr lang="en-US" sz="19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agents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roles consultivos.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66800" y="6282928"/>
            <a:ext cx="7966329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patrón no se circunscribe al código ni a la consultoría: consiste en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trabajo estructurado asistido por un agente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486900" y="3917379"/>
            <a:ext cx="7734300" cy="97155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25025" y="4117404"/>
            <a:ext cx="2552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Minutas de entrevistas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430125" y="4117404"/>
            <a:ext cx="46895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Estructuración de audio o transcripciones en hallazgos accionables.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486900" y="5022279"/>
            <a:ext cx="7734300" cy="68580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25025" y="5222304"/>
            <a:ext cx="2552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Informes ejecutivos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430125" y="5222304"/>
            <a:ext cx="46895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Síntesis consistente a partir de notas dispersas.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486900" y="5841429"/>
            <a:ext cx="7734300" cy="97155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5025" y="6041454"/>
            <a:ext cx="2552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datos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430125" y="6041454"/>
            <a:ext cx="46895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Preparación, limpieza y descripción de conjuntos de datos.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486900" y="6946329"/>
            <a:ext cx="7734300" cy="97155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5025" y="7146354"/>
            <a:ext cx="2552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Planes y roadmaps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430125" y="7146354"/>
            <a:ext cx="468953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Desglose de objetivos en fases con criterios de aceptación.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917737" y="9753600"/>
            <a:ext cx="34025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COPILOT COMO ASISTENTE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DECISIÓN PRÁCTICA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1305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modos de uso: agente sobre workspace o chat directo.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254475"/>
            <a:ext cx="7886700" cy="2643188"/>
          </a:xfrm>
          <a:prstGeom prst="rect">
            <a:avLst/>
          </a:prstGeom>
          <a:solidFill>
            <a:srgbClr val="0A0A0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4950" y="4692625"/>
            <a:ext cx="722071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AGENTE SOBRE WORKSPACE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04950" y="5059338"/>
            <a:ext cx="72207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el trabajo involucra archivos del proyecto.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4950" y="5573688"/>
            <a:ext cx="722071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Existen materiales en el repositorio Git —código, transcripciones, datos, documentos— que el agente debe leer, procesar y devolver como salida </a:t>
            </a:r>
            <a:pPr algn="l" indent="0" marL="0">
              <a:lnSpc>
                <a:spcPct val="155000"/>
              </a:lnSpc>
              <a:buNone/>
            </a:pPr>
            <a:r>
              <a:rPr lang="en-US" sz="15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workspace </a:t>
            </a:r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34500" y="4254475"/>
            <a:ext cx="7886700" cy="2643188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63125" y="4683100"/>
            <a:ext cx="724033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 DIRECTO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763125" y="5049813"/>
            <a:ext cx="72403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la interacción es puntual.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63125" y="5564163"/>
            <a:ext cx="7240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Brainstorming, exploración y consultas aisladas, sin archivos ni persistencia.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7013" y="8398371"/>
            <a:ext cx="12753975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elección no es de producto sino de modo de uso. Copilot, Claude Code y Codex ofrecen el modo agente; sus interfaces web, el chat directo. Criterio: si la afinación del prompt o el contexto supondrá una inversión de tiempo, </a:t>
            </a:r>
            <a:pPr algn="ctr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 preferible </a:t>
            </a:r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resida en un repositorio Git como instructions, prompt files o custom agents.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3917737" y="9753600"/>
            <a:ext cx="34025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COPILOT COMO ASISTENTE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52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· 1 DE 5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cambia, a partir de hoy, en la forma de trabajar.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105647"/>
            <a:ext cx="16154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403750"/>
            <a:ext cx="6477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05000" y="4369966"/>
            <a:ext cx="72207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prompts aislados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7350" y="4434706"/>
            <a:ext cx="571500" cy="152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10800" y="4362822"/>
            <a:ext cx="722071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instructions, prompt files y custom agents.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66800" y="4944740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66800" y="5242843"/>
            <a:ext cx="6477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905000" y="5209059"/>
            <a:ext cx="72207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sesiones prolongadas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350" y="5273799"/>
            <a:ext cx="571500" cy="152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210800" y="5201915"/>
            <a:ext cx="722071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sesiones acotadas, alineadas con la tarea.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1066800" y="5783833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066800" y="6081936"/>
            <a:ext cx="6477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905000" y="6048152"/>
            <a:ext cx="72207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dependencia de la memoria del agente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7350" y="6112892"/>
            <a:ext cx="571500" cy="1524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10800" y="6041008"/>
            <a:ext cx="722071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contexto embebido en archivos del repositorio Git.</a:t>
            </a:r>
            <a:endParaRPr lang="en-US" sz="1950" dirty="0"/>
          </a:p>
        </p:txBody>
      </p:sp>
      <p:sp>
        <p:nvSpPr>
          <p:cNvPr id="20" name="Shape 15"/>
          <p:cNvSpPr/>
          <p:nvPr/>
        </p:nvSpPr>
        <p:spPr>
          <a:xfrm>
            <a:off x="1066800" y="7796287"/>
            <a:ext cx="161544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1066800" y="6622926"/>
            <a:ext cx="161544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1066800" y="7088163"/>
            <a:ext cx="64770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905000" y="7054379"/>
            <a:ext cx="72207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activos personales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350" y="7119119"/>
            <a:ext cx="571500" cy="152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210800" y="6880101"/>
            <a:ext cx="722071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artefactos compartidos por el equipo mediante el repositorio Git.</a:t>
            </a:r>
            <a:endParaRPr lang="en-US" sz="1950" dirty="0"/>
          </a:p>
        </p:txBody>
      </p:sp>
      <p:sp>
        <p:nvSpPr>
          <p:cNvPr id="26" name="Text 20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7" name="Text 21"/>
          <p:cNvSpPr/>
          <p:nvPr/>
        </p:nvSpPr>
        <p:spPr>
          <a:xfrm>
            <a:off x="15426482" y="9753600"/>
            <a:ext cx="18709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· 2 DE 5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Niveles progresivos de uso de Copilot.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260354"/>
            <a:ext cx="3108945" cy="214878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4612779"/>
            <a:ext cx="26331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343025" y="4993779"/>
            <a:ext cx="26331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directo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43025" y="5504259"/>
            <a:ext cx="26331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Conversación, copia y pegado manual.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28145" y="4260354"/>
            <a:ext cx="3108945" cy="214878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4370" y="4612779"/>
            <a:ext cx="26331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2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604370" y="4993779"/>
            <a:ext cx="26331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instructions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604370" y="5504259"/>
            <a:ext cx="26331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agente incorpora contexto del proyecto.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490" y="4260354"/>
            <a:ext cx="3108945" cy="214878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5715" y="4612779"/>
            <a:ext cx="26331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3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7865715" y="4993779"/>
            <a:ext cx="26331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files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865715" y="5504259"/>
            <a:ext cx="26331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Reutilización de tareas mediante comandos.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850835" y="4260354"/>
            <a:ext cx="3108945" cy="2148780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27060" y="4612779"/>
            <a:ext cx="26331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4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1127060" y="4993779"/>
            <a:ext cx="26331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agents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127060" y="5504259"/>
            <a:ext cx="26331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especializados con tooling propio.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4112180" y="4260354"/>
            <a:ext cx="3108945" cy="2148780"/>
          </a:xfrm>
          <a:prstGeom prst="rect">
            <a:avLst/>
          </a:prstGeom>
          <a:solidFill>
            <a:srgbClr val="FFB020"/>
          </a:solidFill>
          <a:ln w="9525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388405" y="4612779"/>
            <a:ext cx="26331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0A0A0A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5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4388405" y="4993779"/>
            <a:ext cx="263319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-21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+ MCP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388405" y="5504259"/>
            <a:ext cx="263319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0A0A0A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 externas integradas al flujo.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57550" y="6866334"/>
            <a:ext cx="11772900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finalización del primer workshop sitúa a los participantes en el </a:t>
            </a:r>
            <a:pPr algn="ctr" indent="0" marL="0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 4-5 </a:t>
            </a:r>
            <a:pPr algn="ctr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la mayoría de los equipos permanece en los niveles 1-2.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15426482" y="9753600"/>
            <a:ext cx="18709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· 3 DE 5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3584525"/>
            <a:ext cx="7927086" cy="3613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900" b="1" spc="-138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Experimentar con </a:t>
            </a:r>
            <a:pPr algn="l" indent="0" marL="0">
              <a:lnSpc>
                <a:spcPct val="102000"/>
              </a:lnSpc>
              <a:buNone/>
            </a:pPr>
            <a:r>
              <a:rPr lang="en-US" sz="6900" b="1" spc="-138" kern="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</a:t>
            </a:r>
            <a:pPr algn="l" indent="0" marL="0">
              <a:lnSpc>
                <a:spcPct val="102000"/>
              </a:lnSpc>
              <a:buNone/>
            </a:pPr>
            <a:r>
              <a:rPr lang="en-US" sz="6900" b="1" spc="-138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tareas reales del día a día.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0" y="4044851"/>
            <a:ext cx="7927086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próximo paso no es una implementación formal: es llevar lo visto a una tarea propia y observar dónde aporta valor.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0" y="5079206"/>
            <a:ext cx="7927086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objetivo de entrega. El propósito es familiarizarse con el flujo y detectar qué partes del trabajo se benefician de contexto explícito, de un prompt reutilizable o de un agente especializado.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25000" y="6523062"/>
            <a:ext cx="7927086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CONTINUACIÓN · IDEAS PARA EMPEZAR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· 4 DE 5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para poner en práctica lo aprendido.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2462733"/>
            <a:ext cx="7886700" cy="6280324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5425" y="2891358"/>
            <a:ext cx="724033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PRÓXIMOS DÍAS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95425" y="3315221"/>
            <a:ext cx="400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952625" y="3258071"/>
            <a:ext cx="676941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Redactar un copilot-instructions.md para un proyecto activo, fijando stack, idioma y convenciones propias.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95425" y="4115321"/>
            <a:ext cx="400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952625" y="4058171"/>
            <a:ext cx="676941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una tarea que se repita durante la semana y convertirla en un prompt file.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95425" y="4915421"/>
            <a:ext cx="400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952625" y="4858271"/>
            <a:ext cx="676941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Incorporar el cambio de sesión como parte del flujo al pasar de una tarea a otra.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334500" y="2462733"/>
            <a:ext cx="7886700" cy="6280324"/>
          </a:xfrm>
          <a:prstGeom prst="rect">
            <a:avLst/>
          </a:prstGeom>
          <a:solidFill>
            <a:srgbClr val="0A0A0A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72650" y="2900883"/>
            <a:ext cx="722071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LAS PRÓXIMAS SEMANAS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72650" y="3324746"/>
            <a:ext cx="400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229850" y="3267596"/>
            <a:ext cx="674979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un custom agent para un rol habitual: revisión de documentos, análisis de requerimientos, preparación de entregables.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72650" y="4439171"/>
            <a:ext cx="400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229850" y="4382021"/>
            <a:ext cx="674979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Explorar un servidor MCP que conecte con herramientas ya presentes en el día a día.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72650" y="5239271"/>
            <a:ext cx="400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229850" y="5182121"/>
            <a:ext cx="674979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Llevar un caso real al formato spec → instructions → prompt y contrastar el resultado con el enfoque anterior.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24484" y="9047857"/>
            <a:ext cx="1663903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especificación completa y un pipeline end-to-end se abordan en el Workshop 2.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5426482" y="9753600"/>
            <a:ext cx="18709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· 5 DE 5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Contenidos del siguiente workshop.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5016624"/>
            <a:ext cx="7927086" cy="1573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contenido actual se centra en proporcionar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agente. El siguiente workshop aborda la elaboración de una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especificación completa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la construcción del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</a:t>
            </a:r>
            <a:pPr algn="l" indent="0" marL="0">
              <a:lnSpc>
                <a:spcPct val="155000"/>
              </a:lnSpc>
              <a:buNone/>
            </a:pPr>
            <a:r>
              <a:rPr lang="en-US" sz="19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la transforma en entregable.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525000" y="4281264"/>
            <a:ext cx="7696200" cy="70388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0" y="4975622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25000" y="4281264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525000" y="4281264"/>
            <a:ext cx="28575" cy="70388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Shape 8"/>
          <p:cNvSpPr/>
          <p:nvPr/>
        </p:nvSpPr>
        <p:spPr>
          <a:xfrm>
            <a:off x="17211675" y="4281264"/>
            <a:ext cx="9525" cy="70388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763125" y="4509864"/>
            <a:ext cx="5524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10825" y="4481289"/>
            <a:ext cx="6789039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Especificaciones detalladas con criterios de aceptación medibles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525000" y="5137547"/>
            <a:ext cx="7696200" cy="70388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0" y="5831904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0" y="5137547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0" y="5137547"/>
            <a:ext cx="28575" cy="70388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7" name="Shape 15"/>
          <p:cNvSpPr/>
          <p:nvPr/>
        </p:nvSpPr>
        <p:spPr>
          <a:xfrm>
            <a:off x="17211675" y="5137547"/>
            <a:ext cx="9525" cy="70388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763125" y="5366147"/>
            <a:ext cx="5524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410825" y="5337572"/>
            <a:ext cx="6789039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Pipeline: BA → Architect → Code reviewer → QA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0" y="5993829"/>
            <a:ext cx="7696200" cy="70388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25000" y="6688187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525000" y="5993829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525000" y="5993829"/>
            <a:ext cx="28575" cy="70388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4" name="Shape 22"/>
          <p:cNvSpPr/>
          <p:nvPr/>
        </p:nvSpPr>
        <p:spPr>
          <a:xfrm>
            <a:off x="17211675" y="5993829"/>
            <a:ext cx="9525" cy="70388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763125" y="6222429"/>
            <a:ext cx="5524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410825" y="6193854"/>
            <a:ext cx="6789039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Controles de calidad automatizados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525000" y="6850112"/>
            <a:ext cx="7696200" cy="703883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28" name="Shape 26"/>
          <p:cNvSpPr/>
          <p:nvPr/>
        </p:nvSpPr>
        <p:spPr>
          <a:xfrm>
            <a:off x="9525000" y="7544470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525000" y="6850112"/>
            <a:ext cx="76962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525000" y="6850112"/>
            <a:ext cx="28575" cy="70388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1" name="Shape 29"/>
          <p:cNvSpPr/>
          <p:nvPr/>
        </p:nvSpPr>
        <p:spPr>
          <a:xfrm>
            <a:off x="17211675" y="6850112"/>
            <a:ext cx="9525" cy="70388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763125" y="7078712"/>
            <a:ext cx="5524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410825" y="7050137"/>
            <a:ext cx="6789039" cy="34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 y gobernanza en flujos agénticos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5426482" y="9753600"/>
            <a:ext cx="18709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3651424"/>
            <a:ext cx="792708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 · WORKSHOP 1 · FUNDAMENTOS DE IA AGÉNTICA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6800" y="4161011"/>
            <a:ext cx="7927086" cy="134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800" b="1" spc="-432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Gracias.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1066800" y="5845001"/>
            <a:ext cx="58864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abierto para preguntas y comentarios.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525000" y="3431902"/>
            <a:ext cx="7696200" cy="3461296"/>
          </a:xfrm>
          <a:prstGeom prst="rect">
            <a:avLst/>
          </a:prstGeom>
          <a:solidFill>
            <a:srgbClr val="17171A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67925" y="3974827"/>
            <a:ext cx="680866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PATRICIO RENNER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67925" y="4379640"/>
            <a:ext cx="680866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1 · EY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0067925" y="5046390"/>
            <a:ext cx="66103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67925" y="5322615"/>
            <a:ext cx="6808661" cy="556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Repositorio · github.com/patriciorenner/ ey-workshop-spec-driven-1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67925" y="6183585"/>
            <a:ext cx="680866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CONTINUACIÓN EN EL WORKSHOP 2</a:t>
            </a:r>
            <a:endParaRPr lang="en-US" sz="97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RECURSOS · 1 DE 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Galería de ejemplos oficiales.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305571"/>
            <a:ext cx="37835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Customization Library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99112" y="2305571"/>
            <a:ext cx="652054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colección curada con ejemplos listos para estudiar y adaptar.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2692226"/>
            <a:ext cx="1373505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docs.github.com/en/copilot/tutorials/customization-library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066800" y="3566145"/>
            <a:ext cx="6033641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294683"/>
            <a:ext cx="621465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INSTRUCTIONS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6800" y="3728070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custom instructions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066800" y="4039046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explainer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066800" y="4350023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Debugging tutor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066800" y="4660999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reviewer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066800" y="4971976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helper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066800" y="5282952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request assistant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1066800" y="5593928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manager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066800" y="5904905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 auditor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066800" y="6215881"/>
            <a:ext cx="6214650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automation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7519541" y="3566145"/>
            <a:ext cx="464127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519541" y="3294683"/>
            <a:ext cx="478051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FILES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19541" y="3728070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prompt file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7519541" y="4039046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README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7519541" y="4350023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plan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7519541" y="4660999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API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7519541" y="4971976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code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7519541" y="5282952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unit tests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12579921" y="3566145"/>
            <a:ext cx="464127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579921" y="3294683"/>
            <a:ext cx="478051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AGENTS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579921" y="3728070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custom agent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2579921" y="4039046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planner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2579921" y="4350023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fix teammate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2579921" y="4660999"/>
            <a:ext cx="4780518" cy="2728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</a:t>
            </a:r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A8A8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Cleanup specialist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066800" y="9753600"/>
            <a:ext cx="2435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SDD · WORKSHOP 1 / 2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5426482" y="9753600"/>
            <a:ext cx="18709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68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</a:t>
            </a:r>
            <a:pPr algn="l" indent="0" marL="0">
              <a:buNone/>
            </a:pPr>
            <a:r>
              <a:rPr lang="en-US" sz="1125" spc="68" kern="0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</a:t>
            </a:r>
            <a:pPr algn="l" indent="0" marL="0">
              <a:buNone/>
            </a:pPr>
            <a:r>
              <a:rPr lang="en-US" sz="1125" spc="68" kern="0" dirty="0">
                <a:solidFill>
                  <a:srgbClr val="F5F5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57</a:t>
            </a:r>
            <a:pPr algn="l" indent="0" marL="0">
              <a:buNone/>
            </a:pPr>
            <a:r>
              <a:rPr lang="en-US" sz="1125" spc="68" kern="0" dirty="0">
                <a:solidFill>
                  <a:srgbClr val="6B6B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58</a:t>
            </a:r>
            <a:endParaRPr lang="en-US" sz="11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1066800" y="952500"/>
            <a:ext cx="166390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RECURSOS · 2 DE 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66800" y="1371600"/>
            <a:ext cx="16639032" cy="67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120" kern="0" dirty="0">
                <a:solidFill>
                  <a:srgbClr val="F5F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Documentación, comunidad y MCP.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66800" y="4618658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4347195"/>
            <a:ext cx="80448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DOCUMENTACIÓN OFICIAL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66800" y="4780583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Copilot — docs.github.com/copilot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66800" y="5097289"/>
            <a:ext cx="80448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Code · Custom instructions — code.visualstudio.com/docs/copilot/customization/custom-instructions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066800" y="5635451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Code · Prompt files — code.visualstudio.com/docs/copilot/customization/prompt-files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066800" y="5952158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VS Code · Custom agents — code.visualstudio.com/api/extension-guides/ai/chat-agent-mode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9410700" y="4618658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410700" y="4347195"/>
            <a:ext cx="80448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MARKETPLACE DE LA COMUNIDAD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410700" y="4780583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Awesome Copilot — awesome-copilot.github.com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410700" y="5097289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github/awesome-copilot — github.com/github/awesome-copilot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410700" y="5413995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Colección abierta de custom instructions, prompt files, custom agents, chat modes y skills.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066800" y="6787976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6516514"/>
            <a:ext cx="80448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MCP · MODEL CONTEXT PROTOCOL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66800" y="6949901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Especificación — modelcontextprotocol.io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66800" y="7266608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context7 (documentación como contexto) — github.com/upstash/context7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410700" y="6787976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410700" y="6516514"/>
            <a:ext cx="8044815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FFB0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LECTURAS DE REFERENCIA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0700" y="6949901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Vercel · agents.md outperforms skills — vercel.com/blog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410700" y="7266608"/>
            <a:ext cx="80448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A8A8A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Understanding how models operate — medium.com/ai-in-plain-english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2026-04-22T04:47:04Z</dcterms:created>
  <dcterms:modified xsi:type="dcterms:W3CDTF">2026-04-22T04:47:04Z</dcterms:modified>
</cp:coreProperties>
</file>